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E7C7B"/>
            </a:solidFill>
            <a:ln w="3175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2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Jul 1</c:v>
                  </c:pt>
                  <c:pt idx="1">
                    <c:v>Jul 8</c:v>
                  </c:pt>
                  <c:pt idx="2">
                    <c:v>Jul 15</c:v>
                  </c:pt>
                  <c:pt idx="3">
                    <c:v>Jul 22</c:v>
                  </c:pt>
                  <c:pt idx="4">
                    <c:v>Jul 29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</c:v>
                </c:pt>
                <c:pt idx="1">
                  <c:v>1340</c:v>
                </c:pt>
                <c:pt idx="2">
                  <c:v>1260</c:v>
                </c:pt>
                <c:pt idx="3">
                  <c:v>1410</c:v>
                </c:pt>
                <c:pt idx="4">
                  <c:v>1305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2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F2C641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9A9D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Cancelled by Driver</c:v>
                </c:pt>
                <c:pt idx="2">
                  <c:v>Cancelled by Customer</c:v>
                </c:pt>
                <c:pt idx="3">
                  <c:v>Incomplete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62</c:v>
                </c:pt>
                <c:pt idx="1">
                  <c:v>18</c:v>
                </c:pt>
                <c:pt idx="2">
                  <c:v>13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UPI</c:v>
                  </c:pt>
                  <c:pt idx="1">
                    <c:v>Cash</c:v>
                  </c:pt>
                  <c:pt idx="2">
                    <c:v>Card</c:v>
                  </c:pt>
                  <c:pt idx="3">
                    <c:v>Wallet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412000</c:v>
                </c:pt>
                <c:pt idx="1">
                  <c:v>298000</c:v>
                </c:pt>
                <c:pt idx="2">
                  <c:v>215000</c:v>
                </c:pt>
                <c:pt idx="3">
                  <c:v>96000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cancellations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C641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bubble3D val="0"/>
            <c:spPr>
              <a:solidFill>
                <a:srgbClr val="5B5F66"/>
              </a:solidFill>
              <a:effectLst/>
            </c:spPr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Driver not moving</c:v>
                </c:pt>
                <c:pt idx="1">
                  <c:v>Change of plans</c:v>
                </c:pt>
                <c:pt idx="2">
                  <c:v>Wrong address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28</c:v>
                </c:pt>
                <c:pt idx="2">
                  <c:v>22</c:v>
                </c:pt>
                <c:pt idx="3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Driver cancellations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F2C641"/>
              </a:solidFill>
              <a:effectLst/>
            </c:spPr>
          </c:dPt>
          <c:dPt>
            <c:idx val="2"/>
            <c:bubble3D val="0"/>
            <c:spPr>
              <a:solidFill>
                <a:srgbClr val="5B5F66"/>
              </a:solidFill>
              <a:effectLst/>
            </c:spPr>
          </c:dPt>
          <c:dPt>
            <c:idx val="3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B0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Personal &amp; Car issue</c:v>
                </c:pt>
                <c:pt idx="1">
                  <c:v>Customer related</c:v>
                </c:pt>
                <c:pt idx="2">
                  <c:v>More than permitted people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41</c:v>
                </c:pt>
                <c:pt idx="1">
                  <c:v>24</c:v>
                </c:pt>
                <c:pt idx="2">
                  <c:v>19</c:v>
                </c:pt>
                <c:pt idx="3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943600" cy="5943600"/>
          </a:xfrm>
          <a:prstGeom prst="ellipse">
            <a:avLst/>
          </a:prstGeom>
          <a:solidFill>
            <a:srgbClr val="F2C64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74320"/>
            <a:ext cx="3657600" cy="3657600"/>
          </a:xfrm>
          <a:prstGeom prst="ellipse">
            <a:avLst/>
          </a:prstGeom>
          <a:ln w="15875">
            <a:solidFill>
              <a:srgbClr val="F2C641">
                <a:alpha val="45000"/>
              </a:srgbClr>
            </a:solidFill>
            <a:prstDash val="solid"/>
          </a:ln>
        </p:spPr>
      </p:sp>
      <p:pic>
        <p:nvPicPr>
          <p:cNvPr id="4" name="Image 0" descr="assets/car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94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ANALYTICS PORTFOLIO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43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 Ride Bookings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SQL + Power BI Analysis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exploration of ride-hailing operations data — from raw bookings to a five-page interactive dashboard covering demand, revenue, cancellations, and service quality.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4360" y="5577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 analytical queries
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5577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5-page Power BI report
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03720" y="5577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Demand · Revenue · Quality
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bookings 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ride-bookings table — one row per trip — was queried in SQL to answer operational questions, then modeled in Power BI to give stakeholders a self-serve view of the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694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 table: bookings, vehicle type, fare, distance, status, ratings, payment, dates.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21488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423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asset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5694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38912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covering success rate, cancellations, top customers, fares, and ratings by segment.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680960" y="21488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55280" y="24231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assets/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5694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95528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linked pages: Overview, Vehicle Type, Revenue, Cancellation, and Rating — fully interactive.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 THE DATASET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5074920"/>
            <a:ext cx="94183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5074920"/>
            <a:ext cx="94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618488" y="5074920"/>
            <a:ext cx="101041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24" name="Text 19"/>
          <p:cNvSpPr/>
          <p:nvPr/>
        </p:nvSpPr>
        <p:spPr>
          <a:xfrm>
            <a:off x="1618488" y="5074920"/>
            <a:ext cx="10104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56916" y="5074920"/>
            <a:ext cx="107899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26" name="Text 21"/>
          <p:cNvSpPr/>
          <p:nvPr/>
        </p:nvSpPr>
        <p:spPr>
          <a:xfrm>
            <a:off x="2756916" y="5074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Vehicle_Type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963924" y="5074920"/>
            <a:ext cx="121615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28" name="Text 23"/>
          <p:cNvSpPr/>
          <p:nvPr/>
        </p:nvSpPr>
        <p:spPr>
          <a:xfrm>
            <a:off x="3963924" y="507492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Booking_Status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308092" y="5074920"/>
            <a:ext cx="114757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30" name="Text 25"/>
          <p:cNvSpPr/>
          <p:nvPr/>
        </p:nvSpPr>
        <p:spPr>
          <a:xfrm>
            <a:off x="5308092" y="5074920"/>
            <a:ext cx="1147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Booking_Value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583680" y="5074920"/>
            <a:ext cx="114757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32" name="Text 27"/>
          <p:cNvSpPr/>
          <p:nvPr/>
        </p:nvSpPr>
        <p:spPr>
          <a:xfrm>
            <a:off x="6583680" y="5074920"/>
            <a:ext cx="1147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Ride_Distance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7859268" y="5074920"/>
            <a:ext cx="121615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34" name="Text 29"/>
          <p:cNvSpPr/>
          <p:nvPr/>
        </p:nvSpPr>
        <p:spPr>
          <a:xfrm>
            <a:off x="7859268" y="507492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9203436" y="5074920"/>
            <a:ext cx="121615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36" name="Text 31"/>
          <p:cNvSpPr/>
          <p:nvPr/>
        </p:nvSpPr>
        <p:spPr>
          <a:xfrm>
            <a:off x="9203436" y="507492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Driver_Ratings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48640" y="5532120"/>
            <a:ext cx="128473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38" name="Text 33"/>
          <p:cNvSpPr/>
          <p:nvPr/>
        </p:nvSpPr>
        <p:spPr>
          <a:xfrm>
            <a:off x="548640" y="5532120"/>
            <a:ext cx="12847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Customer_Rating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1961388" y="553212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B0B0E"/>
          </a:solidFill>
          <a:ln/>
        </p:spPr>
      </p:sp>
      <p:sp>
        <p:nvSpPr>
          <p:cNvPr id="40" name="Text 35"/>
          <p:cNvSpPr/>
          <p:nvPr/>
        </p:nvSpPr>
        <p:spPr>
          <a:xfrm>
            <a:off x="1961388" y="55321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6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</p:sp>
      <p:pic>
        <p:nvPicPr>
          <p:cNvPr id="3" name="Image 0" descr="assets/database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4360" y="2423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queries against the bookings table — from simple filters to grouped aggregations — answering the questions an operations or finance team would actually ask.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status &amp; ride characteristics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817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successful bookings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Booking_Status = 'Success';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filter isolating completed trips for downstream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ride distance by vehicle type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Vehicle_Type,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ROUND(AVG(NULLIF(Ride_Distance,'null')::NUMERIC),2)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avg_ride_distance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Vehicle_Type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avg_ride_distance DESC;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0857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dirty 'null' strings before casting and averaging.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333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9769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Rides cancelled by customers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0333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854049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Booking_Status = 'cancelled by Customer';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333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KPI feeding the Cancellation dashboard page.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Customers, drivers &amp; service quality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817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customers by ride volume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COUNT(Booking_ID)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total_rides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total_rides DESC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highest-frequency riders for loyalty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cancellations: personal &amp; car issues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canceled_rides_by_driver =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'Personal &amp; Car related issue';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0857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one specific driver-side cancellation reason.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155448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333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97696" y="1828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rating range for Prime Sedan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03336" y="2514600"/>
            <a:ext cx="29718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8540496" y="263347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MAX(Driver_Ratings) AS max_rating,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MIN(Driver_Ratings) AS min_rating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Vehicle_Type = 'Prime Sedan';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03336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Quality-control spread check for a flagship vehicle tier.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ratings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59636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6" name="Text 4"/>
          <p:cNvSpPr/>
          <p:nvPr/>
        </p:nvSpPr>
        <p:spPr>
          <a:xfrm>
            <a:off x="19339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28316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Rides paid via UPI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33956" y="25146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9" name="Text 7"/>
          <p:cNvSpPr/>
          <p:nvPr/>
        </p:nvSpPr>
        <p:spPr>
          <a:xfrm>
            <a:off x="2071116" y="2633472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Payment_Method = 'UPI';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3956" y="5257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used to compare digital vs. cash payment behavior.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23076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739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91756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customer rating by vehicle type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97396" y="25146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734556" y="2633472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Vehicle_Type,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AVG(Customer_Rating) AS avg_customer_rating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Vehicle_Type;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7396" y="5257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driver-rating analysis from the customer's side.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operational exceptions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59636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6" name="Text 4"/>
          <p:cNvSpPr/>
          <p:nvPr/>
        </p:nvSpPr>
        <p:spPr>
          <a:xfrm>
            <a:off x="19339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28316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value of successful rides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33956" y="25146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9" name="Text 7"/>
          <p:cNvSpPr/>
          <p:nvPr/>
        </p:nvSpPr>
        <p:spPr>
          <a:xfrm>
            <a:off x="2071116" y="2633472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SUM(booking_value)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total_successful_ride_value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booking_status = 'Success';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3956" y="5257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figure — the headline number on the Overview page.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23076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7396" y="1828800"/>
            <a:ext cx="457200" cy="45720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91756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rides and reasons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97396" y="25146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16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734556" y="2633472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Booking_ID, Incomplete_Rides_Reason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Incomplete_Rides = 'Yes';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7396" y="5257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list for trips that started but didn't finish.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F2C641">
              <a:alpha val="10000"/>
            </a:srgbClr>
          </a:solidFill>
          <a:ln/>
        </p:spPr>
      </p:sp>
      <p:pic>
        <p:nvPicPr>
          <p:cNvPr id="3" name="Image 0" descr="assets/bar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4360" y="2423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interactive report — Overview, Vehicle Type, Revenue, Cancellation, and Rating — built on the same bookings dataset, linked by a shared date slicer.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on the following pages are illustrative placeholders matching the dashboard's structure — swap in live values from the .pbix before presenting.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1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page: total volume and value at a glance, demand trend over time, and a breakdown of outcomes.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assets/clipboard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assets/money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0299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Value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6309360" cy="3063240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Volume Over Time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77240" y="3520440"/>
          <a:ext cx="58521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Shape 9"/>
          <p:cNvSpPr/>
          <p:nvPr/>
        </p:nvSpPr>
        <p:spPr>
          <a:xfrm>
            <a:off x="7040880" y="3017520"/>
            <a:ext cx="4572000" cy="3063240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26948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Status Breakdown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7269480" y="3520440"/>
          <a:ext cx="41148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2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KPI grid comparing booking value and ride distance across every vehicle category Ola operates.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VALUE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DISTANCE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85416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76856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Sedan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76856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85416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76856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Sedan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76856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22192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13632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SUV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13632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22192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13632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SUV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58968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50408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0408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58968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50408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50408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95744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87184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87184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95744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87184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87184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32520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823960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823960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732520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823960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823960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369296" y="212140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460736" y="22128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Plus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460736" y="262432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369296" y="3538728"/>
            <a:ext cx="1572768" cy="960120"/>
          </a:xfrm>
          <a:prstGeom prst="roundRect">
            <a:avLst>
              <a:gd name="adj" fmla="val 5714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460736" y="36301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Plus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460736" y="404164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cards on this page report Sum(Booking_Value) and Sum(Ride_Distance) sliced by Vehicle_Type — matching SQL Query #2 (avg. ride distance) and the fare logic behind Query #9.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3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 — by payment method and over time — plus the customers driving the most value.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309360" cy="4251960"/>
          </a:xfrm>
          <a:prstGeom prst="roundRect">
            <a:avLst>
              <a:gd name="adj" fmla="val 1720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33172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040880" y="1828800"/>
            <a:ext cx="4572000" cy="4251960"/>
          </a:xfrm>
          <a:prstGeom prst="roundRect">
            <a:avLst>
              <a:gd name="adj" fmla="val 1720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6948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Customers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69480" y="2249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total booking value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69480" y="2697480"/>
            <a:ext cx="365760" cy="36576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CID-3081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18,420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69480" y="3264408"/>
            <a:ext cx="365760" cy="36576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CID-1147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3264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16,955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69480" y="3831336"/>
            <a:ext cx="365760" cy="36576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20" name="Text 17"/>
          <p:cNvSpPr/>
          <p:nvPr/>
        </p:nvSpPr>
        <p:spPr>
          <a:xfrm>
            <a:off x="726948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0" y="3831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CID-5520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0" y="3831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15,310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69480" y="4398264"/>
            <a:ext cx="365760" cy="36576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4398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CID-2298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0" y="4398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14,870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269480" y="4965192"/>
            <a:ext cx="365760" cy="365760"/>
          </a:xfrm>
          <a:prstGeom prst="ellipse">
            <a:avLst/>
          </a:prstGeom>
          <a:solidFill>
            <a:srgbClr val="F2C641"/>
          </a:solidFill>
          <a:ln/>
        </p:spPr>
      </p:sp>
      <p:sp>
        <p:nvSpPr>
          <p:cNvPr id="28" name="Text 25"/>
          <p:cNvSpPr/>
          <p:nvPr/>
        </p:nvSpPr>
        <p:spPr>
          <a:xfrm>
            <a:off x="7269480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0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CID-4406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0" y="4965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13,995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4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cancellations by who initiated them and why — separating customer-side and driver-side reasons.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28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18288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53512" y="1828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Bookings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93792" y="1828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Rides by Customers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77240" y="3429000"/>
          <a:ext cx="5029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263640" y="292608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Rides by Drivers</a:t>
            </a:r>
            <a:endParaRPr lang="en-US" sz="12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92240" y="3429000"/>
          <a:ext cx="49377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5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Service-quality lens: average driver and customer ratings broken out by vehicle type.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B0B0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Ratings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9476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1228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2104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298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298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Rating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860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9476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9476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30352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1228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32104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eBike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2980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8298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both metrics by vehicle type highlights where driver and rider experience diverge — useful for targeting service-quality investment.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E7C7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2C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SKILLS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240280"/>
            <a:ext cx="594360" cy="594360"/>
          </a:xfrm>
          <a:prstGeom prst="ellipse">
            <a:avLst/>
          </a:prstGeom>
          <a:solidFill>
            <a:srgbClr val="F2C641"/>
          </a:solidFill>
          <a:ln/>
        </p:spPr>
      </p:sp>
      <p:pic>
        <p:nvPicPr>
          <p:cNvPr id="7" name="Image 0" descr="assets/databas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682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0175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" y="342900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aggregation, GROUP BY, NULL handling, type casting, ranking with LIMIT.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47288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240280"/>
            <a:ext cx="594360" cy="594360"/>
          </a:xfrm>
          <a:prstGeom prst="ellipse">
            <a:avLst/>
          </a:prstGeom>
          <a:solidFill>
            <a:srgbClr val="F2C641"/>
          </a:solidFill>
          <a:ln/>
        </p:spPr>
      </p:sp>
      <p:pic>
        <p:nvPicPr>
          <p:cNvPr id="12" name="Image 1" descr="assets/bar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3682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0175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03320" y="342900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star schema with a shared date slicer driving 5 report pages.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0216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56248" y="2240280"/>
            <a:ext cx="594360" cy="594360"/>
          </a:xfrm>
          <a:prstGeom prst="ellipse">
            <a:avLst/>
          </a:prstGeom>
          <a:solidFill>
            <a:srgbClr val="F2C641"/>
          </a:solidFill>
          <a:ln/>
        </p:spPr>
      </p:sp>
      <p:pic>
        <p:nvPicPr>
          <p:cNvPr id="17" name="Image 2" descr="assets/pi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36829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56248" y="30175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56248" y="342900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trend lines, pie &amp; column charts, and ranked tables for different audiences.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53144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6161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09176" y="2240280"/>
            <a:ext cx="594360" cy="594360"/>
          </a:xfrm>
          <a:prstGeom prst="ellipse">
            <a:avLst/>
          </a:prstGeom>
          <a:solidFill>
            <a:srgbClr val="F2C641"/>
          </a:solidFill>
          <a:ln/>
        </p:spPr>
      </p:sp>
      <p:pic>
        <p:nvPicPr>
          <p:cNvPr id="22" name="Image 3" descr="assets/targe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36829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9176" y="30175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Framing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409176" y="342900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maps to a real question: demand, revenue, churn risk, and service quality.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94360" y="5257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9436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 and Power BI file available on request.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ANALYSIS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 Ride Bookings Analysis</dc:title>
  <dc:subject>PptxGenJS Presentation</dc:subject>
  <dc:creator>Daksh</dc:creator>
  <cp:lastModifiedBy>Daksh</cp:lastModifiedBy>
  <cp:revision>1</cp:revision>
  <dcterms:created xsi:type="dcterms:W3CDTF">2026-06-20T03:31:06Z</dcterms:created>
  <dcterms:modified xsi:type="dcterms:W3CDTF">2026-06-20T03:31:06Z</dcterms:modified>
</cp:coreProperties>
</file>